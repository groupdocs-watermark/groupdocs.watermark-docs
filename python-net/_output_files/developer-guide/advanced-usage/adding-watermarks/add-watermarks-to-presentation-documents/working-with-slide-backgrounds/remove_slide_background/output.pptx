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5.10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theme" Target="theme/theme1.xml" /><Relationship Id="rId11" Type="http://schemas.openxmlformats.org/officeDocument/2006/relationships/tableStyles" Target="tableStyles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tags" Target="tags/tag1.xml" /><Relationship Id="rId8" Type="http://schemas.openxmlformats.org/officeDocument/2006/relationships/presProps" Target="presProps.xml" /><Relationship Id="rId9" Type="http://schemas.openxmlformats.org/officeDocument/2006/relationships/viewProps" Target="viewProp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t>Reach by channel (thousands)</a:t>
            </a:r>
          </a:p>
        </c:rich>
      </c:tx>
      <c:overlay val="1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Reach (thousands)</c:v>
                </c:pt>
              </c:strCache>
            </c:strRef>
          </c:tx>
          <c:spPr>
            <a:solidFill>
              <a:srgbClr val="3B7DD8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Paid social</c:v>
                </c:pt>
                <c:pt idx="1">
                  <c:v>Organic social</c:v>
                </c:pt>
                <c:pt idx="2">
                  <c:v>Out-of-home</c:v>
                </c:pt>
                <c:pt idx="3">
                  <c:v>In-store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920</c:v>
                </c:pt>
                <c:pt idx="1">
                  <c:v>610</c:v>
                </c:pt>
                <c:pt idx="2">
                  <c:v>240</c:v>
                </c:pt>
                <c:pt idx="3">
                  <c:v>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/>
        <c:overlap/>
        <c:axId val="67451136"/>
        <c:axId val="66437120"/>
      </c:barChart>
      <c:catAx>
        <c:axId val="67451136"/>
        <c:scaling>
          <c:orientation/>
        </c:scaling>
        <c:delete val="0"/>
        <c:axPos val="b"/>
        <c:numFmt formatCode="General" sourceLinked="1"/>
        <c:majorTickMark val="out"/>
        <c:minorTickMark val="none"/>
        <c:crossAx val="66437120"/>
        <c:crosses val="autoZero"/>
        <c:auto val="0"/>
        <c:lblAlgn val="ctr"/>
        <c:lblOffset/>
        <c:noMultiLvlLbl val="0"/>
      </c:catAx>
      <c:valAx>
        <c:axId val="66437120"/>
        <c:scaling>
          <c:orientation/>
        </c:scaling>
        <c:delete val="0"/>
        <c:axPos val="l"/>
        <c:majorGridlines/>
        <c:numFmt formatCode="General" sourceLinked="1"/>
        <c:majorTickMark val="out"/>
        <c:minorTickMark val="none"/>
        <c:crossAx val="67451136"/>
        <c:crosses val="autoZero"/>
        <c:crossBetween val="between"/>
      </c:valAx>
    </c:plotArea>
    <c:plotVisOnly val="1"/>
    <c:dispBlanksAs/>
    <c:showDLblsOverMax val="1"/>
  </c:chart>
  <c:txPr>
    <a:bodyPr/>
    <a:p>
      <a:pPr>
        <a:defRPr sz="1800" smtId="4294967295"/>
      </a:pPr>
      <a:endParaRPr lang="ru-RU"/>
    </a:p>
  </c:txPr>
  <c:externalData r:id="rId1"/>
</c:chartSpac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16A9EB2-F56D-4BE7-BF00-2A0C07D2666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05069C1-B628-4F0C-80DE-9B6462575D0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FF92FBB-7FE6-4B95-88A9-FC5013131AF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31BA405-D741-482F-B5FD-81865E7B9EF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CDEDA1B2-A745-4611-BD14-BBF6292891F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08EADBE4-332E-4D84-9AB8-4E6B814A400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AB5442F-DBE2-47C3-9199-BB1650C9C6F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3EBB53A-DE69-4DDB-8DA0-2B5BF2B988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868838B-5429-4DF5-A973-45D34469005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7C0E0F7-FA3E-4C3D-8D8F-D0766C19509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0F3BF8A-BA28-45DE-BF0D-1122B9EF6F8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.png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image2.jpeg" /><Relationship Id="rId3" Type="http://schemas.openxmlformats.org/officeDocument/2006/relationships/image" Target="../media/image3.png" /></Relationships>
</file>

<file path=ppt/slides/_rels/slide4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chart" Target="../charts/chart1.xml" /></Relationships>
</file>

<file path=ppt/slides/_rels/slide5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noFill/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scrim" title=""/>
          <p:cNvSpPr/>
          <p:nvPr/>
        </p:nvSpPr>
        <p:spPr>
          <a:xfrm>
            <a:off x="0" y="1234440"/>
            <a:ext cx="12192000" cy="3566160"/>
          </a:xfrm>
          <a:prstGeom prst="rect">
            <a:avLst/>
          </a:prstGeom>
          <a:solidFill>
            <a:srgbClr val="1B2A4A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Logo" title=""/>
          <p:cNvPicPr/>
          <p:nvPr/>
        </p:nvPicPr>
        <p:blipFill>
          <a:blip r:embed="rId2"/>
          <a:stretch>
            <a:fillRect/>
          </a:stretch>
        </p:blipFill>
        <p:spPr>
          <a:xfrm>
            <a:off x="4191000" y="1371600"/>
            <a:ext cx="3810000" cy="1143000"/>
          </a:xfrm>
          <a:prstGeom prst="rect">
            <a:avLst/>
          </a:prstGeom>
        </p:spPr>
      </p:pic>
      <p:sp>
        <p:nvSpPr>
          <p:cNvPr id="4" name="New shape" title=""/>
          <p:cNvSpPr txBox="1"/>
          <p:nvPr/>
        </p:nvSpPr>
        <p:spPr>
          <a:xfrm>
            <a:off x="762000" y="2641600"/>
            <a:ext cx="10668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sz="4000" b="1">
                <a:solidFill>
                  <a:srgbClr val="FFFFFF"/>
                </a:solidFill>
              </a:rPr>
              <a:t>Brand Pitch</a:t>
            </a:r>
          </a:p>
        </p:txBody>
      </p:sp>
      <p:sp>
        <p:nvSpPr>
          <p:cNvPr id="5" name="New shape" title=""/>
          <p:cNvSpPr txBox="1"/>
          <p:nvPr/>
        </p:nvSpPr>
        <p:spPr>
          <a:xfrm>
            <a:off x="762000" y="3403600"/>
            <a:ext cx="10668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sz="1800" b="0">
                <a:solidFill>
                  <a:srgbClr val="F4F6FA"/>
                </a:solidFill>
              </a:rPr>
              <a:t>A refreshed visual identity for Northwind Coffee Roasters</a:t>
            </a:r>
          </a:p>
        </p:txBody>
      </p:sp>
      <p:sp>
        <p:nvSpPr>
          <p:cNvPr id="6" name="New shape" title=""/>
          <p:cNvSpPr txBox="1"/>
          <p:nvPr/>
        </p:nvSpPr>
        <p:spPr>
          <a:xfrm>
            <a:off x="762000" y="6223000"/>
            <a:ext cx="10668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sz="1300" b="1">
                <a:solidFill>
                  <a:srgbClr val="E8A33D"/>
                </a:solidFill>
              </a:rPr>
              <a:t>Photography · Brand Design · Motion   ·   2026</a:t>
            </a:r>
          </a:p>
        </p:txBody>
      </p:sp>
    </p:spTree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itle" title=""/>
          <p:cNvSpPr txBox="1"/>
          <p:nvPr/>
        </p:nvSpPr>
        <p:spPr>
          <a:xfrm>
            <a:off x="889000" y="7620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Who we are</a:t>
            </a:r>
          </a:p>
        </p:txBody>
      </p:sp>
      <p:sp>
        <p:nvSpPr>
          <p:cNvPr id="5" name="Accent rule" title=""/>
          <p:cNvSpPr/>
          <p:nvPr/>
        </p:nvSpPr>
        <p:spPr>
          <a:xfrm>
            <a:off x="914400" y="14986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llets" title=""/>
          <p:cNvSpPr/>
          <p:nvPr/>
        </p:nvSpPr>
        <p:spPr>
          <a:xfrm>
            <a:off x="889000" y="2032000"/>
            <a:ext cx="10414000" cy="355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A senior-led studio for photography, brand design, and motion.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One team from brief to delivery — no hand-offs.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Watermark-protected delivery keeps your assets controlled.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Average 12-day turnaround on a full campaign.</a:t>
            </a:r>
          </a:p>
        </p:txBody>
      </p:sp>
      <p:sp>
        <p:nvSpPr>
          <p:cNvPr id="7" name="Footer" title=""/>
          <p:cNvSpPr txBox="1"/>
          <p:nvPr/>
        </p:nvSpPr>
        <p:spPr>
          <a:xfrm>
            <a:off x="889000" y="6324600"/>
            <a:ext cx="1041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slides/slide3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blipFill>
          <a:blip r:embed="rId3"/>
          <a:tile tx="0" ty="0" sx="100000" sy="100000" flip="none" algn="tl"/>
        </a:blip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itle" title=""/>
          <p:cNvSpPr txBox="1"/>
          <p:nvPr/>
        </p:nvSpPr>
        <p:spPr>
          <a:xfrm>
            <a:off x="889000" y="7620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Selected work</a:t>
            </a:r>
          </a:p>
        </p:txBody>
      </p:sp>
      <p:sp>
        <p:nvSpPr>
          <p:cNvPr id="5" name="Accent rule" title=""/>
          <p:cNvSpPr/>
          <p:nvPr/>
        </p:nvSpPr>
        <p:spPr>
          <a:xfrm>
            <a:off x="914400" y="14986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hoto: Espresso Dusk" title=""/>
          <p:cNvPicPr/>
          <p:nvPr/>
        </p:nvPicPr>
        <p:blipFill>
          <a:blip r:embed="rId2"/>
          <a:stretch>
            <a:fillRect/>
          </a:stretch>
        </p:blipFill>
        <p:spPr>
          <a:xfrm>
            <a:off x="3048000" y="1714500"/>
            <a:ext cx="6096000" cy="3810000"/>
          </a:xfrm>
          <a:prstGeom prst="rect">
            <a:avLst/>
          </a:prstGeom>
        </p:spPr>
      </p:pic>
      <p:sp>
        <p:nvSpPr>
          <p:cNvPr id="7" name="New shape" title=""/>
          <p:cNvSpPr txBox="1"/>
          <p:nvPr/>
        </p:nvSpPr>
        <p:spPr>
          <a:xfrm>
            <a:off x="3048000" y="5626100"/>
            <a:ext cx="6096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200" b="0">
                <a:solidFill>
                  <a:srgbClr val="5B6472"/>
                </a:solidFill>
              </a:rPr>
              <a:t>Espresso Dusk — on-location photography</a:t>
            </a:r>
          </a:p>
        </p:txBody>
      </p:sp>
      <p:sp>
        <p:nvSpPr>
          <p:cNvPr id="8" name="Footer" title=""/>
          <p:cNvSpPr txBox="1"/>
          <p:nvPr/>
        </p:nvSpPr>
        <p:spPr>
          <a:xfrm>
            <a:off x="889000" y="6324600"/>
            <a:ext cx="1041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slides/slide4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itle" title=""/>
          <p:cNvSpPr txBox="1"/>
          <p:nvPr/>
        </p:nvSpPr>
        <p:spPr>
          <a:xfrm>
            <a:off x="889000" y="7620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Campaign results</a:t>
            </a:r>
          </a:p>
        </p:txBody>
      </p:sp>
      <p:sp>
        <p:nvSpPr>
          <p:cNvPr id="5" name="Accent rule" title=""/>
          <p:cNvSpPr/>
          <p:nvPr/>
        </p:nvSpPr>
        <p:spPr>
          <a:xfrm>
            <a:off x="914400" y="14986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Reach by channel" title=""/>
          <p:cNvGraphicFramePr/>
          <p:nvPr/>
        </p:nvGraphicFramePr>
        <p:xfrm>
          <a:off x="889000" y="1905000"/>
          <a:ext cx="10414000" cy="3937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Footer" title=""/>
          <p:cNvSpPr txBox="1"/>
          <p:nvPr/>
        </p:nvSpPr>
        <p:spPr>
          <a:xfrm>
            <a:off x="889000" y="6324600"/>
            <a:ext cx="1041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slides/slide5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itle" title=""/>
          <p:cNvSpPr txBox="1"/>
          <p:nvPr/>
        </p:nvSpPr>
        <p:spPr>
          <a:xfrm>
            <a:off x="889000" y="7620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Engagement &amp; next steps</a:t>
            </a:r>
          </a:p>
        </p:txBody>
      </p:sp>
      <p:sp>
        <p:nvSpPr>
          <p:cNvPr id="5" name="Accent rule" title=""/>
          <p:cNvSpPr/>
          <p:nvPr/>
        </p:nvSpPr>
        <p:spPr>
          <a:xfrm>
            <a:off x="914400" y="14986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llets" title=""/>
          <p:cNvSpPr/>
          <p:nvPr/>
        </p:nvSpPr>
        <p:spPr>
          <a:xfrm>
            <a:off x="889000" y="2032000"/>
            <a:ext cx="10414000" cy="355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Phase 1 — Discovery workshop and creative brief.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Phase 2 — Photography and brand system design.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Phase 3 — Motion pack and brand film.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Fixed project fee: $29,700. Start within two weeks of sign-off.</a:t>
            </a:r>
          </a:p>
        </p:txBody>
      </p:sp>
      <p:sp>
        <p:nvSpPr>
          <p:cNvPr id="7" name="Footer" title=""/>
          <p:cNvSpPr txBox="1"/>
          <p:nvPr/>
        </p:nvSpPr>
        <p:spPr>
          <a:xfrm>
            <a:off x="889000" y="6324600"/>
            <a:ext cx="1041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10.0.12"/>
  <p:tag name="AS_OS" val="Microsoft Windows NT 10.0.26200.0"/>
  <p:tag name="AS_RELEASE_DATE" val="2025.10.14"/>
  <p:tag name="AS_TITLE" val="Aspose.Slides for .NET6"/>
  <p:tag name="AS_VERSION" val="25.10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Manager>Tomas Reyes</Manager>
  <Company>Aurora Visuals</Company>
  <PresentationFormat>On-screen Show (4:3)</PresentationFormat>
  <Paragraphs>20</Paragraphs>
  <Slides>5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baseType="lpstr" size="8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0</LinksUpToDate>
  <SharedDoc>0</SharedDoc>
  <HyperlinksChanged>0</HyperlinksChanged>
  <Application>Aspose.Slides for .NET</Application>
  <AppVersion>25.1000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Aurora Visuals — Brand Pitch</dc:title>
  <dc:creator>Mara Lindqvist</dc:creator>
  <cp:lastModifiedBy>Mara Lindqvist</cp:lastModifiedBy>
  <cp:revision>1</cp:revision>
  <cp:lastPrinted>2026-10-11T09:46:55.518</cp:lastPrinted>
  <dcterms:created xsi:type="dcterms:W3CDTF">2026-03-02T09:00:00Z</dcterms:created>
  <dcterms:modified xsi:type="dcterms:W3CDTF">2026-10-12T06:43:48Z</dcterms:modified>
  <dc:subject>Brand pitch for Northwind Coffee Roasters</dc:subject>
</cp:coreProperties>
</file>